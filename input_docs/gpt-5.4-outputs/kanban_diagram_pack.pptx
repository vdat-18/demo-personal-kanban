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49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Context-First Kanban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3075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pack for user flow, unlock model, task lifecycle, data flow, architecture, and POC slices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" y="1828800"/>
            <a:ext cx="1572768" cy="329184"/>
          </a:xfrm>
          <a:prstGeom prst="roundRect">
            <a:avLst>
              <a:gd name="adj" fmla="val 25000"/>
            </a:avLst>
          </a:prstGeom>
          <a:solidFill>
            <a:srgbClr val="DDE5FF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85623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Board-anchored UX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59152" y="1828800"/>
            <a:ext cx="1481328" cy="329184"/>
          </a:xfrm>
          <a:prstGeom prst="roundRect">
            <a:avLst>
              <a:gd name="adj" fmla="val 25000"/>
            </a:avLst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85623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50208" y="1828800"/>
            <a:ext cx="1719072" cy="329184"/>
          </a:xfrm>
          <a:prstGeom prst="roundRect">
            <a:avLst>
              <a:gd name="adj" fmla="val 25000"/>
            </a:avLst>
          </a:prstGeom>
          <a:solidFill>
            <a:srgbClr val="E8E1FF"/>
          </a:solidFill>
          <a:ln w="12700">
            <a:solidFill>
              <a:srgbClr val="E8E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1856232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human copilot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040880" y="941832"/>
            <a:ext cx="3840480" cy="43891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1261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remains the main workspace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498080" y="1938528"/>
            <a:ext cx="2834640" cy="2121408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07808" y="2084832"/>
            <a:ext cx="621792" cy="237744"/>
          </a:xfrm>
          <a:prstGeom prst="roundRect">
            <a:avLst>
              <a:gd name="adj" fmla="val 34615"/>
            </a:avLst>
          </a:prstGeom>
          <a:solidFill>
            <a:srgbClr val="DDE5FF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2112264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57032" y="2084832"/>
            <a:ext cx="749808" cy="237744"/>
          </a:xfrm>
          <a:prstGeom prst="roundRect">
            <a:avLst>
              <a:gd name="adj" fmla="val 34615"/>
            </a:avLst>
          </a:prstGeom>
          <a:solidFill>
            <a:srgbClr val="E8E1FF"/>
          </a:solidFill>
          <a:ln w="12700">
            <a:solidFill>
              <a:srgbClr val="E8E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112264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52560" y="2084832"/>
            <a:ext cx="621792" cy="237744"/>
          </a:xfrm>
          <a:prstGeom prst="roundRect">
            <a:avLst>
              <a:gd name="adj" fmla="val 34615"/>
            </a:avLst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112264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720072" y="2084832"/>
            <a:ext cx="640080" cy="237744"/>
          </a:xfrm>
          <a:prstGeom prst="roundRect">
            <a:avLst>
              <a:gd name="adj" fmla="val 34615"/>
            </a:avLst>
          </a:prstGeom>
          <a:solidFill>
            <a:srgbClr val="FDEAD9"/>
          </a:solidFill>
          <a:ln w="12700">
            <a:solidFill>
              <a:srgbClr val="FDEA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211226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53528" y="2487168"/>
            <a:ext cx="594360" cy="113385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487168"/>
            <a:ext cx="594360" cy="113385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88552" y="2487168"/>
            <a:ext cx="594360" cy="113385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56064" y="2487168"/>
            <a:ext cx="493776" cy="113385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2816352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494776" y="2816352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253728" y="2816352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701784" y="29626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126480" y="2194560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2542032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954512" y="2194560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36224" y="2542032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14032" y="4498848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46451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project context: files, extracted text, metadata, decisions, deliverables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2834640"/>
            <a:ext cx="3200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headEnd type="triangl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332720" y="2834640"/>
            <a:ext cx="621792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823960" y="4059936"/>
            <a:ext cx="0" cy="438912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headEnd type="triangl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76656" y="2788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3FA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2862072"/>
            <a:ext cx="5175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pack is for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6384" y="3081528"/>
            <a:ext cx="5193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diagrams translate your concept into a dev-facing visual model: how the product unlocks, where AI sits, how tasks move, what data needs to exist, and how a POC can be sliced without losing the core idea.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76656" y="49834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" y="5056632"/>
            <a:ext cx="5175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North-star rule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6384" y="5276088"/>
            <a:ext cx="51937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is the main anchoring UX. Directory tree and planner chat are supporting systems around it.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user flow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unlocks in sequence, then settles into board-first execution.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1737360" cy="2971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417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DE5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527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89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49961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" y="1920240"/>
            <a:ext cx="15361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shell exists but the board is still locked. Initial metadata can be set here.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304288" y="2857500"/>
            <a:ext cx="118872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50592" y="1417320"/>
            <a:ext cx="1737360" cy="2971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1417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3744" y="12527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1289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149961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intake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1920240"/>
            <a:ext cx="15361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directory tree is open. User uploads files and adds connectors that explain the project.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87952" y="2857500"/>
            <a:ext cx="118872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4256" y="1417320"/>
            <a:ext cx="1737360" cy="2971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34256" y="1417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12527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1289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43984" y="149961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43984" y="1920240"/>
            <a:ext cx="15361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explains vision and goals. Agent asks follow-up questions and requests missing documents.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071616" y="2857500"/>
            <a:ext cx="118872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17920" y="1417320"/>
            <a:ext cx="1737360" cy="2971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417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DEAD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1072" y="12527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289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149961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board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27648" y="1920240"/>
            <a:ext cx="15361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summarizes the situation and asks for permission to continue. Approved = board unlocks.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955280" y="2857500"/>
            <a:ext cx="118872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01584" y="1417320"/>
            <a:ext cx="1737360" cy="2971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50B87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01584" y="1417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FF3E8"/>
          </a:solidFill>
          <a:ln w="12700">
            <a:solidFill>
              <a:srgbClr val="50B8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74736" y="12527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0B8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1289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11312" y="149961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board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11312" y="1920240"/>
            <a:ext cx="15361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seeds tasks in To-do. User edits tasks. Cards move Planning → Doing → Review → Done/Cancelled.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838944" y="2857500"/>
            <a:ext cx="118872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985248" y="1417320"/>
            <a:ext cx="1737360" cy="2971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5A6676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985248" y="1417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EF3FA"/>
          </a:solidFill>
          <a:ln w="12700">
            <a:solidFill>
              <a:srgbClr val="5A66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58400" y="12527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6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128930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94976" y="149961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094976" y="1920240"/>
            <a:ext cx="15361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every task is terminal (Done or Cancelled), the project can be marked complete and closed.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713232" y="4892040"/>
            <a:ext cx="409651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4965192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context assets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22960" y="5184648"/>
            <a:ext cx="3895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report, concert news article, supplier quotes, temp worker contacts, lemonade recipes, or any other files/connectors that explain the job.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4956048" y="4892040"/>
            <a:ext cx="3108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65776" y="496519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gate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65776" y="5184648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remains unavailable until the planner agent and user agree that there is enough context.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8193024" y="4892040"/>
            <a:ext cx="33101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02752" y="496519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rule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02752" y="518464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is a terminal state and counts the same as Done for project-close readiness.</a:t>
            </a:r>
            <a:endParaRPr lang="en-US" sz="870" dirty="0"/>
          </a:p>
        </p:txBody>
      </p:sp>
      <p:sp>
        <p:nvSpPr>
          <p:cNvPr id="59" name="Text 57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Board-anchored workspace model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is the day-to-day surface; directory and planner remain attached as context systems.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078992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152144"/>
            <a:ext cx="10707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principle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1371600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and AI collaborators read from the same project context and write back into the same project memory. No shadow context.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2267712" cy="1965960"/>
          </a:xfrm>
          <a:prstGeom prst="roundRect">
            <a:avLst>
              <a:gd name="adj" fmla="val 3721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Tree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816352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 first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upload, organization, and shared reading surface for project context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3657600" y="1828800"/>
            <a:ext cx="48920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148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0" y="24871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UX anchor after planning approval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41648" y="2788920"/>
            <a:ext cx="786384" cy="256032"/>
          </a:xfrm>
          <a:prstGeom prst="roundRect">
            <a:avLst>
              <a:gd name="adj" fmla="val 32143"/>
            </a:avLst>
          </a:prstGeom>
          <a:solidFill>
            <a:srgbClr val="DDE5FF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2816352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82896" y="2788920"/>
            <a:ext cx="822960" cy="256032"/>
          </a:xfrm>
          <a:prstGeom prst="roundRect">
            <a:avLst>
              <a:gd name="adj" fmla="val 32143"/>
            </a:avLst>
          </a:prstGeom>
          <a:solidFill>
            <a:srgbClr val="E8E1FF"/>
          </a:solidFill>
          <a:ln w="12700">
            <a:solidFill>
              <a:srgbClr val="E8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28163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9864" y="2788920"/>
            <a:ext cx="713232" cy="256032"/>
          </a:xfrm>
          <a:prstGeom prst="roundRect">
            <a:avLst>
              <a:gd name="adj" fmla="val 32143"/>
            </a:avLst>
          </a:prstGeom>
          <a:solidFill>
            <a:srgbClr val="DDF4EF"/>
          </a:solidFill>
          <a:ln w="12700">
            <a:solidFill>
              <a:srgbClr val="DDF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9864" y="281635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56248" y="2788920"/>
            <a:ext cx="749808" cy="256032"/>
          </a:xfrm>
          <a:prstGeom prst="roundRect">
            <a:avLst>
              <a:gd name="adj" fmla="val 32143"/>
            </a:avLst>
          </a:prstGeom>
          <a:solidFill>
            <a:srgbClr val="FDEAD9"/>
          </a:solidFill>
          <a:ln w="12700">
            <a:solidFill>
              <a:srgbClr val="FDEA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81635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70064" y="2788920"/>
            <a:ext cx="640080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0064" y="2816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78224" y="3227832"/>
            <a:ext cx="685800" cy="9601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28616" y="3227832"/>
            <a:ext cx="685800" cy="9601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5584" y="3227832"/>
            <a:ext cx="585216" cy="960120"/>
          </a:xfrm>
          <a:prstGeom prst="roundRect">
            <a:avLst>
              <a:gd name="adj" fmla="val 9375"/>
            </a:avLst>
          </a:prstGeom>
          <a:solidFill>
            <a:srgbClr val="F6F8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3227832"/>
            <a:ext cx="585216" cy="960120"/>
          </a:xfrm>
          <a:prstGeom prst="roundRect">
            <a:avLst>
              <a:gd name="adj" fmla="val 9375"/>
            </a:avLst>
          </a:prstGeom>
          <a:solidFill>
            <a:srgbClr val="F6F8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3227832"/>
            <a:ext cx="493776" cy="960120"/>
          </a:xfrm>
          <a:prstGeom prst="roundRect">
            <a:avLst>
              <a:gd name="adj" fmla="val 11111"/>
            </a:avLst>
          </a:prstGeom>
          <a:solidFill>
            <a:srgbClr val="F6F8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5656" y="3566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956048" y="36758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5843016" y="367588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629400" y="367588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415784" y="36758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098280" y="2148840"/>
            <a:ext cx="2267712" cy="1965960"/>
          </a:xfrm>
          <a:prstGeom prst="roundRect">
            <a:avLst>
              <a:gd name="adj" fmla="val 3721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81160" y="243230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Chat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72016" y="2816352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 after context intake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goals, asks questions, requests missing evidence, seeds tasks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1874520" y="5047488"/>
            <a:ext cx="8430768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52303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project context / memory layer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240280" y="5532120"/>
            <a:ext cx="1042416" cy="219456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0280" y="5559552"/>
            <a:ext cx="10424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01568" y="5532120"/>
            <a:ext cx="1188720" cy="219456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1568" y="5559552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text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36592" y="5532120"/>
            <a:ext cx="1060704" cy="219456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5559552"/>
            <a:ext cx="10607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61888" y="5532120"/>
            <a:ext cx="1060704" cy="219456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5559552"/>
            <a:ext cx="10607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87184" y="5532120"/>
            <a:ext cx="1097280" cy="219456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87184" y="5559552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430768" y="5532120"/>
            <a:ext cx="1389888" cy="219456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0768" y="5559552"/>
            <a:ext cx="1389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+ summaries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956816" y="4114800"/>
            <a:ext cx="1700784" cy="-86868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headEnd type="triangl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549640" y="3246120"/>
            <a:ext cx="704088" cy="86868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  <a:headEnd type="triangl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126480" y="4663440"/>
            <a:ext cx="0" cy="384048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headEnd type="triangl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and permission model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phase gate makes the UX predictable and the implementation easier to reason about.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417320"/>
            <a:ext cx="1920240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36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phase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670048" y="1417320"/>
            <a:ext cx="1572768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5361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tree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242816" y="1417320"/>
            <a:ext cx="1572768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15361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chat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815584" y="1417320"/>
            <a:ext cx="1572768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61304" y="15361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388352" y="1417320"/>
            <a:ext cx="1572768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34072" y="15361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tasks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8961120" y="1417320"/>
            <a:ext cx="1572768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5361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project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49808" y="185623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0116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2670048" y="185623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198424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011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42816" y="185623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53128" y="198424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3128" y="2011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15584" y="185623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25896" y="198424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25896" y="2011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88352" y="185623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198424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8664" y="2011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61120" y="185623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71432" y="198424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71432" y="2011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9808" y="238658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254203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intake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2670048" y="2386584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2514600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25420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42816" y="2386584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53128" y="2514600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3128" y="25420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15584" y="2386584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25896" y="2514600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25896" y="25420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88352" y="2386584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98664" y="2514600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98664" y="25420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961120" y="2386584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71432" y="2514600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71432" y="25420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49808" y="2916936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" y="30723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2670048" y="2916936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80360" y="3044952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0360" y="307238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242816" y="2916936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53128" y="3044952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53128" y="307238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815584" y="2916936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25896" y="3044952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25896" y="307238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388352" y="2916936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98664" y="3044952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98664" y="307238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961120" y="2916936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71432" y="3044952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71432" y="307238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49808" y="3447288"/>
            <a:ext cx="1920240" cy="530352"/>
          </a:xfrm>
          <a:prstGeom prst="rect">
            <a:avLst/>
          </a:prstGeom>
          <a:solidFill>
            <a:srgbClr val="F9FB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" y="360273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board</a:t>
            </a:r>
            <a:endParaRPr lang="en-US" sz="1010" dirty="0"/>
          </a:p>
        </p:txBody>
      </p:sp>
      <p:sp>
        <p:nvSpPr>
          <p:cNvPr id="74" name="Shape 72"/>
          <p:cNvSpPr/>
          <p:nvPr/>
        </p:nvSpPr>
        <p:spPr>
          <a:xfrm>
            <a:off x="2670048" y="3447288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0360" y="3575304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80360" y="3602736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242816" y="3447288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453128" y="3575304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53128" y="3602736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815584" y="3447288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25896" y="3575304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25896" y="3602736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388352" y="3447288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598664" y="3575304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DE5FF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98664" y="3602736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961120" y="3447288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71432" y="3575304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71432" y="3602736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49808" y="3977640"/>
            <a:ext cx="1920240" cy="530352"/>
          </a:xfrm>
          <a:prstGeom prst="rect">
            <a:avLst/>
          </a:prstGeom>
          <a:solidFill>
            <a:srgbClr val="FEFB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9536" y="41330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close</a:t>
            </a:r>
            <a:endParaRPr lang="en-US" sz="1010" dirty="0"/>
          </a:p>
        </p:txBody>
      </p:sp>
      <p:sp>
        <p:nvSpPr>
          <p:cNvPr id="91" name="Shape 89"/>
          <p:cNvSpPr/>
          <p:nvPr/>
        </p:nvSpPr>
        <p:spPr>
          <a:xfrm>
            <a:off x="2670048" y="3977640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880360" y="4105656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880360" y="413308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242816" y="3977640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453128" y="4105656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53128" y="413308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815584" y="3977640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25896" y="4105656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25896" y="413308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388352" y="3977640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598664" y="4105656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DE5FF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598664" y="413308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961120" y="3977640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171432" y="4105656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FDEAD9"/>
          </a:solidFill>
          <a:ln w="12700">
            <a:solidFill>
              <a:srgbClr val="FDEAD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171432" y="413308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49808" y="4507992"/>
            <a:ext cx="1920240" cy="530352"/>
          </a:xfrm>
          <a:prstGeom prst="rect">
            <a:avLst/>
          </a:prstGeom>
          <a:solidFill>
            <a:srgbClr val="F8F6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59536" y="466344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010" dirty="0"/>
          </a:p>
        </p:txBody>
      </p:sp>
      <p:sp>
        <p:nvSpPr>
          <p:cNvPr id="108" name="Shape 106"/>
          <p:cNvSpPr/>
          <p:nvPr/>
        </p:nvSpPr>
        <p:spPr>
          <a:xfrm>
            <a:off x="2670048" y="450799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880360" y="463600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80360" y="466344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4242816" y="450799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453128" y="463600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53128" y="466344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5815584" y="450799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25896" y="463600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DFF3E8"/>
          </a:solidFill>
          <a:ln w="12700">
            <a:solidFill>
              <a:srgbClr val="DFF3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025896" y="466344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7388352" y="450799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598664" y="463600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8E1FF"/>
          </a:solidFill>
          <a:ln w="12700">
            <a:solidFill>
              <a:srgbClr val="E8E1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98664" y="466344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961120" y="4507992"/>
            <a:ext cx="157276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171432" y="4636008"/>
            <a:ext cx="1152144" cy="256032"/>
          </a:xfrm>
          <a:prstGeom prst="roundRect">
            <a:avLst>
              <a:gd name="adj" fmla="val 32143"/>
            </a:avLst>
          </a:prstGeom>
          <a:solidFill>
            <a:srgbClr val="E8E1FF"/>
          </a:solidFill>
          <a:ln w="12700">
            <a:solidFill>
              <a:srgbClr val="E8E1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171432" y="466344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86384" y="5166360"/>
            <a:ext cx="33101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6112" y="5239512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intent</a:t>
            </a:r>
            <a:endParaRPr lang="en-US" sz="950" dirty="0"/>
          </a:p>
        </p:txBody>
      </p:sp>
      <p:sp>
        <p:nvSpPr>
          <p:cNvPr id="125" name="Text 123"/>
          <p:cNvSpPr/>
          <p:nvPr/>
        </p:nvSpPr>
        <p:spPr>
          <a:xfrm>
            <a:off x="896112" y="5458968"/>
            <a:ext cx="3108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are not dropped into an empty board first. They build context first, then move into action once the planner can summarize the job coherently.</a:t>
            </a:r>
            <a:endParaRPr lang="en-US" sz="870" dirty="0"/>
          </a:p>
        </p:txBody>
      </p:sp>
      <p:sp>
        <p:nvSpPr>
          <p:cNvPr id="126" name="Shape 124"/>
          <p:cNvSpPr/>
          <p:nvPr/>
        </p:nvSpPr>
        <p:spPr>
          <a:xfrm>
            <a:off x="4251960" y="5166360"/>
            <a:ext cx="34015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361688" y="523951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hint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4361688" y="5458968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unlock state can live on the project record as a simple enum plus capability flags. Frontend visibility should derive from that state, not from ad hoc checks.</a:t>
            </a:r>
            <a:endParaRPr lang="en-US" sz="870" dirty="0"/>
          </a:p>
        </p:txBody>
      </p:sp>
      <p:sp>
        <p:nvSpPr>
          <p:cNvPr id="129" name="Shape 127"/>
          <p:cNvSpPr/>
          <p:nvPr/>
        </p:nvSpPr>
        <p:spPr>
          <a:xfrm>
            <a:off x="7827264" y="5166360"/>
            <a:ext cx="35478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936992" y="5239512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rule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7936992" y="5458968"/>
            <a:ext cx="3346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close is gated by a computed condition: every task must be in a terminal state. Terminal = Done or Cancelled.</a:t>
            </a:r>
            <a:endParaRPr lang="en-US" sz="870" dirty="0"/>
          </a:p>
        </p:txBody>
      </p:sp>
      <p:sp>
        <p:nvSpPr>
          <p:cNvPr id="132" name="Text 130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lifecycle and automation points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card changes meaning by state; different AI routines attach at different stages.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73736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DDE5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5623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1618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Planner seeds initial tasks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can add, delete, or split tasks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Backlog / not yet engaged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2514600" y="2816352"/>
            <a:ext cx="155448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43200" y="17373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173736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185623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2350008"/>
            <a:ext cx="1618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Clarify scope and dependencies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 acceptance criteria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 into concrete next actions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4617720" y="2816352"/>
            <a:ext cx="155448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17373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73736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85623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350008"/>
            <a:ext cx="1618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 the task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tools / connectors / copilots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Produce work-in-progress artifacts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720840" y="2816352"/>
            <a:ext cx="155448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17373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73736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DEAD9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185623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2350008"/>
            <a:ext cx="1618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QC the deliverable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completeness and quality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Send back to Doing if it fails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8823960" y="2816352"/>
            <a:ext cx="155448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52560" y="17373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50B87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52560" y="173736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DFF3E8"/>
          </a:solidFill>
          <a:ln w="12700">
            <a:solidFill>
              <a:srgbClr val="50B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2288" y="185623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89720" y="2350008"/>
            <a:ext cx="1618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Terminal state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Capture output summary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 final artifacts and rationale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7498080" y="3749040"/>
            <a:ext cx="-1554480" cy="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98080" y="3749040"/>
            <a:ext cx="0" cy="-41148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749040"/>
            <a:ext cx="0" cy="-41148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480060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DE4DE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5029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90672" y="5330952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state. Use when the task is no longer worth doing, no longer relevant, or intentionally dropped. Counts the same as Done for project-close readiness.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591056" y="3959352"/>
            <a:ext cx="0" cy="841248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694176" y="3959352"/>
            <a:ext cx="0" cy="841248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797296" y="3959352"/>
            <a:ext cx="0" cy="841248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900416" y="3959352"/>
            <a:ext cx="0" cy="841248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44000" y="4690872"/>
            <a:ext cx="2011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53728" y="476402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behavior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253728" y="4983480"/>
            <a:ext cx="18105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can be moved by humans, by AI suggestions, or by workflow rules. What changes by state is the kind of assistance the system offers.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Planner-agent interaction sequence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is a gated intake conversation that turns raw context into an executable starting board.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298448"/>
            <a:ext cx="1645920" cy="420624"/>
          </a:xfrm>
          <a:prstGeom prst="roundRect">
            <a:avLst>
              <a:gd name="adj" fmla="val 10870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264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554480" y="1737360"/>
            <a:ext cx="0" cy="425196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298448"/>
            <a:ext cx="1965960" cy="420624"/>
          </a:xfrm>
          <a:prstGeom prst="roundRect">
            <a:avLst>
              <a:gd name="adj" fmla="val 10870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426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UI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360420" y="1737360"/>
            <a:ext cx="0" cy="425196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298448"/>
            <a:ext cx="1965960" cy="420624"/>
          </a:xfrm>
          <a:prstGeom prst="roundRect">
            <a:avLst>
              <a:gd name="adj" fmla="val 10870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426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Agent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326380" y="1737360"/>
            <a:ext cx="0" cy="425196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298448"/>
            <a:ext cx="1965960" cy="420624"/>
          </a:xfrm>
          <a:prstGeom prst="roundRect">
            <a:avLst>
              <a:gd name="adj" fmla="val 10870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26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292340" y="1737360"/>
            <a:ext cx="0" cy="425196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298448"/>
            <a:ext cx="1965960" cy="420624"/>
          </a:xfrm>
          <a:prstGeom prst="roundRect">
            <a:avLst>
              <a:gd name="adj" fmla="val 10870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426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Service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258300" y="1737360"/>
            <a:ext cx="0" cy="425196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1993392"/>
            <a:ext cx="180594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627632" y="1847088"/>
            <a:ext cx="165963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Upload docs / add connectors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360420" y="2450592"/>
            <a:ext cx="393192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433572" y="2304288"/>
            <a:ext cx="378561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Index files and enrich context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1554480" y="2907792"/>
            <a:ext cx="180594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627632" y="2761488"/>
            <a:ext cx="165963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Click “continue to planning”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360420" y="3364992"/>
            <a:ext cx="196596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433572" y="3218688"/>
            <a:ext cx="181965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Send current context + project shell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326380" y="3822192"/>
            <a:ext cx="-1965960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433572" y="3675888"/>
            <a:ext cx="181965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Ask questions / request missing docs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554480" y="4279392"/>
            <a:ext cx="180594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627632" y="4133088"/>
            <a:ext cx="165963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Answer questions / upload more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360420" y="4736592"/>
            <a:ext cx="393192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433572" y="4590288"/>
            <a:ext cx="378561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Update context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326380" y="5193792"/>
            <a:ext cx="-1965960" cy="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433572" y="5047488"/>
            <a:ext cx="181965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Return summary + unlock request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326380" y="5486400"/>
            <a:ext cx="393192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399532" y="5340096"/>
            <a:ext cx="3785616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Generate and seed initial tasks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9258300" y="5742432"/>
            <a:ext cx="-5897880" cy="0"/>
          </a:xfrm>
          <a:prstGeom prst="line">
            <a:avLst/>
          </a:prstGeom>
          <a:noFill/>
          <a:ln w="12700">
            <a:solidFill>
              <a:srgbClr val="50B87A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583680" y="5596128"/>
            <a:ext cx="3200400" cy="128016"/>
          </a:xfrm>
          <a:prstGeom prst="rect">
            <a:avLst/>
          </a:prstGeom>
          <a:solidFill>
            <a:srgbClr val="FBFC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Board shows tasks in To-do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868680" y="6016752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8408" y="6089904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gate matters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78408" y="630936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does not just answer questions; it decides whether enough context exists to responsibly unlock execution.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4224528" y="6016752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34256" y="6089904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outputs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334256" y="630936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summary, assumptions, risks, missing info, and a first-cut task list with clear names.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360920" y="6016752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0648" y="6089904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simplification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70648" y="63093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POC, planner and task generation can live behind one service boundary even if they later split.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 and data flow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artifact becomes usable context for both people and AI services.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1234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sources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1508760"/>
            <a:ext cx="18288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64592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DDF4E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18196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files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4672" y="2487168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DDF4E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660904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connectors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672" y="332841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50215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conversation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04672" y="4169664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43434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artifacts + QC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4672" y="501091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5184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summaries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200400" y="12344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+ context layer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0" y="1508760"/>
            <a:ext cx="4389120" cy="27432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1664208"/>
            <a:ext cx="438912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93008" y="192024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14884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Normalize, extract, tag, version, permission, and index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0" y="2816352"/>
            <a:ext cx="1143000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8437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19472" y="2816352"/>
            <a:ext cx="1207008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84378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text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45352" y="2816352"/>
            <a:ext cx="914400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86200" y="3456432"/>
            <a:ext cx="1097280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34838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index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66360" y="3456432"/>
            <a:ext cx="987552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48386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27648" y="3456432"/>
            <a:ext cx="914400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483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77640" y="4096512"/>
            <a:ext cx="1078992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41239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memory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7800" y="4096512"/>
            <a:ext cx="914400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4123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results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55080" y="4096512"/>
            <a:ext cx="914400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1239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566160" y="480060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487375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75888" y="509320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layer is the shared memory of the project. The UI and agents should not each maintain separate private versions of context.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8366760" y="12344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66760" y="1508760"/>
            <a:ext cx="2514600" cy="274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41080" y="1755648"/>
            <a:ext cx="1874520" cy="493776"/>
          </a:xfrm>
          <a:prstGeom prst="roundRect">
            <a:avLst>
              <a:gd name="adj" fmla="val 11111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41080" y="192024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agent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8641080" y="2487168"/>
            <a:ext cx="1874520" cy="493776"/>
          </a:xfrm>
          <a:prstGeom prst="roundRect">
            <a:avLst>
              <a:gd name="adj" fmla="val 11111"/>
            </a:avLst>
          </a:prstGeom>
          <a:solidFill>
            <a:srgbClr val="DDE5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41080" y="265176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Task-stage copilots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8641080" y="3218688"/>
            <a:ext cx="1874520" cy="493776"/>
          </a:xfrm>
          <a:prstGeom prst="roundRect">
            <a:avLst>
              <a:gd name="adj" fmla="val 11111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41080" y="33832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collaborators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8641080" y="3950208"/>
            <a:ext cx="18745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41080" y="41148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UI + search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8641080" y="4681728"/>
            <a:ext cx="1874520" cy="493776"/>
          </a:xfrm>
          <a:prstGeom prst="roundRect">
            <a:avLst>
              <a:gd name="adj" fmla="val 11111"/>
            </a:avLst>
          </a:prstGeom>
          <a:solidFill>
            <a:srgbClr val="DFF3E8"/>
          </a:solidFill>
          <a:ln w="12700">
            <a:solidFill>
              <a:srgbClr val="50B8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41080" y="48463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/ closeout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2633472" y="1929384"/>
            <a:ext cx="566928" cy="32004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633472" y="2770632"/>
            <a:ext cx="566928" cy="-192024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2633472" y="3611880"/>
            <a:ext cx="566928" cy="-704088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633472" y="4453128"/>
            <a:ext cx="566928" cy="2743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633472" y="5294376"/>
            <a:ext cx="566928" cy="-58521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589520" y="2002536"/>
            <a:ext cx="105156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589520" y="2734056"/>
            <a:ext cx="105156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589520" y="3465576"/>
            <a:ext cx="105156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7589520" y="4197096"/>
            <a:ext cx="1051560" cy="0"/>
          </a:xfrm>
          <a:prstGeom prst="line">
            <a:avLst/>
          </a:prstGeom>
          <a:noFill/>
          <a:ln w="12700">
            <a:solidFill>
              <a:srgbClr val="4F6BED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589520" y="4928616"/>
            <a:ext cx="1051560" cy="0"/>
          </a:xfrm>
          <a:prstGeom prst="line">
            <a:avLst/>
          </a:prstGeom>
          <a:noFill/>
          <a:ln w="12700">
            <a:solidFill>
              <a:srgbClr val="50B87A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 for MVP / POC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service boundaries let the product start simple without boxing future evolution 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280160"/>
            <a:ext cx="10744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4813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workspace shell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1810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94767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home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182112" y="1810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94767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panel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358384" y="1810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194767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chat panel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534656" y="1810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34656" y="194767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710928" y="1810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0928" y="194767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/ closeout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13232" y="2743200"/>
            <a:ext cx="10744200" cy="1847088"/>
          </a:xfrm>
          <a:prstGeom prst="roundRect">
            <a:avLst>
              <a:gd name="adj" fmla="val 3960"/>
            </a:avLst>
          </a:prstGeom>
          <a:solidFill>
            <a:srgbClr val="F6F8FC"/>
          </a:solidFill>
          <a:ln w="12700">
            <a:solidFill>
              <a:srgbClr val="D9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2926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services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4400" y="32918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44728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project service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2907792" y="32918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7792" y="344728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/ connector ingestion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4901184" y="32918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DDE5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344728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retrieval API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6894576" y="3291840"/>
            <a:ext cx="1645920" cy="438912"/>
          </a:xfrm>
          <a:prstGeom prst="roundRect">
            <a:avLst>
              <a:gd name="adj" fmla="val 10417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34472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service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8686800" y="32918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DFF3E8"/>
          </a:solidFill>
          <a:ln w="12700">
            <a:solidFill>
              <a:srgbClr val="50B8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344728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orchestration service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4206240" y="3950208"/>
            <a:ext cx="1920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410565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/ events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6400800" y="3950208"/>
            <a:ext cx="1920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10565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/ audit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713232" y="4983480"/>
            <a:ext cx="7955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0" y="51663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infrastructure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60120" y="550468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56235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DB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2542032" y="550468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56235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4123944" y="550468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56235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/ vector index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5980176" y="550468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0176" y="56235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7315200" y="550468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56235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provider(s)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8887968" y="4983480"/>
            <a:ext cx="256946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464040" y="5166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9189720" y="5504688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51008" y="5504688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9720" y="56235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API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10351008" y="56235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labor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1874520" y="2194560"/>
            <a:ext cx="0" cy="109728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050792" y="2194560"/>
            <a:ext cx="0" cy="109728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227064" y="2194560"/>
            <a:ext cx="0" cy="109728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403336" y="2194560"/>
            <a:ext cx="0" cy="109728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579608" y="2194560"/>
            <a:ext cx="0" cy="109728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1828800" y="3730752"/>
            <a:ext cx="0" cy="1773936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822192" y="3730752"/>
            <a:ext cx="0" cy="1773936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815584" y="3730752"/>
            <a:ext cx="0" cy="1773936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717536" y="3730752"/>
            <a:ext cx="0" cy="1773936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601200" y="3730752"/>
            <a:ext cx="0" cy="1773936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720072" y="3730752"/>
            <a:ext cx="0" cy="1773936"/>
          </a:xfrm>
          <a:prstGeom prst="line">
            <a:avLst/>
          </a:prstGeom>
          <a:noFill/>
          <a:ln w="12700">
            <a:solidFill>
              <a:srgbClr val="50B87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611880" y="5852160"/>
            <a:ext cx="55778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68680" y="6126480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DDE5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8408" y="619963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Pragmatic POC note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78408" y="6419088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can start as modules inside one backend as long as the interfaces are clean.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5897880" y="6126480"/>
            <a:ext cx="5266944" cy="530352"/>
          </a:xfrm>
          <a:prstGeom prst="roundRect">
            <a:avLst>
              <a:gd name="adj" fmla="val 13793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07608" y="6199632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non-negotiable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007608" y="6419088"/>
            <a:ext cx="5065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context layer and the board-first interaction shell matter more than microservice purity.</a:t>
            </a:r>
            <a:endParaRPr lang="en-US" sz="870" dirty="0"/>
          </a:p>
        </p:txBody>
      </p:sp>
      <p:sp>
        <p:nvSpPr>
          <p:cNvPr id="73" name="Text 71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6BED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D9E3F0"/>
          </a:solidFill>
          <a:ln w="12700">
            <a:solidFill>
              <a:srgbClr val="D9E3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377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DDE5FF"/>
          </a:solidFill>
          <a:ln w="12700">
            <a:solidFill>
              <a:srgbClr val="4F6B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83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01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POC build slices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98448" y="52120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 vertical slice sequence keeps the concept testable without building every AI behavior at once.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1783080" cy="36118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3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78308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38528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shell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950976" y="2450592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project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project status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 unlock state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060704" y="3794760"/>
            <a:ext cx="1298448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32688" y="4251960"/>
            <a:ext cx="1563624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325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outcome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42416" y="454456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exists.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2606040" y="3584448"/>
            <a:ext cx="1828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80360" y="1783080"/>
            <a:ext cx="1783080" cy="36118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80360" y="178308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DDF4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53512" y="1938528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Context intake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3008376" y="2450592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Directory tree only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Upload files / connectors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Human-readable shared context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118104" y="3794760"/>
            <a:ext cx="1298448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8104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next gate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90088" y="4251960"/>
            <a:ext cx="1563624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4325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outcome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99816" y="454456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visible.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663440" y="3584448"/>
            <a:ext cx="1828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37760" y="1783080"/>
            <a:ext cx="1783080" cy="36118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78308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E8E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1938528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Planner gate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5065776" y="2450592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Planner chat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follow-ups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Summary + board unlock decision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175504" y="3794760"/>
            <a:ext cx="1298448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75504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next gate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47488" y="4251960"/>
            <a:ext cx="1563624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7216" y="4325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outcome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57216" y="454456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unlocks responsibly.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720840" y="3584448"/>
            <a:ext cx="1828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95160" y="1783080"/>
            <a:ext cx="1783080" cy="36118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95160" y="178308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DDE5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1938528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Board core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7123176" y="2450592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Seed tasks in To-do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cards across states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 close rule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232904" y="3794760"/>
            <a:ext cx="1298448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32904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MVP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04888" y="4251960"/>
            <a:ext cx="1563624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14616" y="4325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outcome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14616" y="454456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can execute.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8778240" y="3584448"/>
            <a:ext cx="1828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052560" y="1783080"/>
            <a:ext cx="1783080" cy="36118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50B87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052560" y="1783080"/>
            <a:ext cx="1783080" cy="438912"/>
          </a:xfrm>
          <a:prstGeom prst="roundRect">
            <a:avLst>
              <a:gd name="adj" fmla="val 16667"/>
            </a:avLst>
          </a:prstGeom>
          <a:solidFill>
            <a:srgbClr val="DFF3E8"/>
          </a:solidFill>
          <a:ln w="12700">
            <a:solidFill>
              <a:srgbClr val="50B8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25712" y="1938528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Stage copilots</a:t>
            </a:r>
            <a:endParaRPr lang="en-US" sz="1060" dirty="0"/>
          </a:p>
        </p:txBody>
      </p:sp>
      <p:sp>
        <p:nvSpPr>
          <p:cNvPr id="52" name="Text 50"/>
          <p:cNvSpPr/>
          <p:nvPr/>
        </p:nvSpPr>
        <p:spPr>
          <a:xfrm>
            <a:off x="9180576" y="2450592"/>
            <a:ext cx="152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Planning assist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Doing assist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QC + done summary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9290304" y="3794760"/>
            <a:ext cx="1298448" cy="256032"/>
          </a:xfrm>
          <a:prstGeom prst="roundRect">
            <a:avLst>
              <a:gd name="adj" fmla="val 32143"/>
            </a:avLst>
          </a:prstGeom>
          <a:solidFill>
            <a:srgbClr val="EDF2F8"/>
          </a:solidFill>
          <a:ln w="12700">
            <a:solidFill>
              <a:srgbClr val="D9E3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90304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Delight layer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162288" y="4251960"/>
            <a:ext cx="1563624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50B8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72016" y="432511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outcome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272016" y="4544568"/>
            <a:ext cx="1362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support deepens by stage.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868680" y="5687568"/>
            <a:ext cx="51937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8408" y="5760720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demo path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78408" y="5980176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concert / lemonade stand scenario with known documents first. It makes the unlock model and shared-context idea immediately legible to stakeholders.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6291072" y="568756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6B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5760720"/>
            <a:ext cx="4718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for the POC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00800" y="5980176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8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should feel that the board is central, the planner is helpful but bounded, and the same project context is visible to both humans and AI.</a:t>
            </a:r>
            <a:endParaRPr lang="en-US" sz="870" dirty="0"/>
          </a:p>
        </p:txBody>
      </p:sp>
      <p:sp>
        <p:nvSpPr>
          <p:cNvPr id="64" name="Text 62"/>
          <p:cNvSpPr/>
          <p:nvPr/>
        </p:nvSpPr>
        <p:spPr>
          <a:xfrm>
            <a:off x="11430000" y="64465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Context-first Kanban diagram pack</dc:title>
  <dc:subject>Context-first Kanban diagrams</dc:subject>
  <dc:creator>OpenAI</dc:creator>
  <cp:lastModifiedBy>OpenAI</cp:lastModifiedBy>
  <cp:revision>1</cp:revision>
  <dcterms:created xsi:type="dcterms:W3CDTF">2026-03-29T02:29:06Z</dcterms:created>
  <dcterms:modified xsi:type="dcterms:W3CDTF">2026-03-29T02:29:06Z</dcterms:modified>
</cp:coreProperties>
</file>